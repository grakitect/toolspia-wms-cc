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2" r:id="rId4"/>
    <p:sldId id="263" r:id="rId5"/>
    <p:sldId id="264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4320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63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50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40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079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937760"/>
            <a:ext cx="4206240" cy="4206240"/>
          </a:xfrm>
          <a:prstGeom prst="ellipse">
            <a:avLst/>
          </a:prstGeom>
          <a:solidFill>
            <a:srgbClr val="26307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 기획안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344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물류 시스템 도입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구상안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 중심의 통합 물류 및 재고 표준화 전략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743200" cy="0"/>
          </a:xfrm>
          <a:prstGeom prst="line">
            <a:avLst/>
          </a:prstGeom>
          <a:noFill/>
          <a:ln w="25400">
            <a:solidFill>
              <a:srgbClr val="E883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2E3B8C"/>
          </a:solidFill>
          <a:ln w="15875">
            <a:solidFill>
              <a:srgbClr val="E88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39776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WMS를 단일 진실 공급원(SSOT)으로 삼아 재고 표준화 확립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2E3B8C"/>
          </a:solidFill>
          <a:ln w="15875">
            <a:solidFill>
              <a:srgbClr val="E8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636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463600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적치재고 및 중국 자동화기기(WCS)의 통합 관리 체계 구축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5294376"/>
            <a:ext cx="457200" cy="457200"/>
          </a:xfrm>
          <a:prstGeom prst="ellipse">
            <a:avLst/>
          </a:prstGeom>
          <a:solidFill>
            <a:srgbClr val="2E3B8C"/>
          </a:solidFill>
          <a:ln w="15875">
            <a:solidFill>
              <a:srgbClr val="E88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5294376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ERP는 순수 회계 처리 중심으로 명확한 역할 분담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분석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아키텍처 비교 검토 (1안 vs 2안)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101600" dist="38100" dir="5400000" algn="bl" rotWithShape="0">
              <a:srgbClr val="9AA0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074920" cy="777240"/>
          </a:xfrm>
          <a:prstGeom prst="roundRect">
            <a:avLst>
              <a:gd name="adj" fmla="val 9412"/>
            </a:avLst>
          </a:prstGeom>
          <a:solidFill>
            <a:srgbClr val="F4E3E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5074920" cy="365760"/>
          </a:xfrm>
          <a:prstGeom prst="rect">
            <a:avLst/>
          </a:prstGeom>
          <a:solidFill>
            <a:srgbClr val="F4E3E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013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1안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</a:t>
            </a:r>
            <a:r>
              <a:rPr lang="en-US" sz="1150" dirty="0" err="1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직결합</a:t>
            </a:r>
            <a:r>
              <a:rPr lang="en-US" sz="1150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dirty="0" err="1" smtClean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r>
              <a:rPr lang="en-US" sz="1150" dirty="0" smtClean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dirty="0" smtClean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분리 불가</a:t>
            </a:r>
            <a:r>
              <a:rPr lang="en-US" altLang="ko-KR" sz="1150" dirty="0" smtClean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18488"/>
            <a:ext cx="5074920" cy="4718304"/>
          </a:xfrm>
          <a:prstGeom prst="roundRect">
            <a:avLst>
              <a:gd name="adj" fmla="val 155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27000" dist="50800" dir="5400000" algn="bl" rotWithShape="0">
              <a:srgbClr val="1E276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12680" y="1618488"/>
            <a:ext cx="1097280" cy="329184"/>
          </a:xfrm>
          <a:prstGeom prst="rect">
            <a:avLst/>
          </a:prstGeom>
          <a:solidFill>
            <a:srgbClr val="E883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18928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2안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2585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 중심 계층화 구조 (안정성 확보)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2697480"/>
            <a:ext cx="310896" cy="310896"/>
          </a:xfrm>
          <a:prstGeom prst="ellipse">
            <a:avLst/>
          </a:prstGeom>
          <a:solidFill>
            <a:srgbClr val="F4E3E0"/>
          </a:solidFill>
          <a:ln/>
        </p:spPr>
      </p:sp>
      <p:pic>
        <p:nvPicPr>
          <p:cNvPr id="14" name="Image 0" descr="/home/claude/logistics_pptx/icons/structur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2759659"/>
            <a:ext cx="186538" cy="18653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26791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형태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60120" y="30632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ko-KR" altLang="en-US" sz="1300" dirty="0" smtClean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온라인주문수집</a:t>
            </a:r>
            <a:r>
              <a:rPr lang="en-US" sz="1300" dirty="0" smtClean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WMS, </a:t>
            </a:r>
            <a:r>
              <a:rPr lang="en-US" sz="1300" dirty="0" err="1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</a:t>
            </a:r>
            <a:r>
              <a:rPr lang="en-US" sz="1300" dirty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 smtClean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자동화기기</a:t>
            </a:r>
            <a:r>
              <a:rPr lang="en-US" sz="1300" dirty="0" smtClean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(WCS), ERP </a:t>
            </a:r>
            <a:r>
              <a:rPr lang="ko-KR" altLang="en-US" sz="1300" dirty="0" smtClean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92240" y="2697480"/>
            <a:ext cx="310896" cy="310896"/>
          </a:xfrm>
          <a:prstGeom prst="ellipse">
            <a:avLst/>
          </a:prstGeom>
          <a:solidFill>
            <a:srgbClr val="2E3B8C"/>
          </a:solidFill>
          <a:ln/>
        </p:spPr>
      </p:sp>
      <p:pic>
        <p:nvPicPr>
          <p:cNvPr id="18" name="Image 1" descr="/home/claude/logistics_pptx/icons/structur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2759659"/>
            <a:ext cx="186538" cy="1865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03720" y="26791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형태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92240" y="306324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WMS가 중앙 허브(완충 장치) 역할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후 ERP와 연동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60120" y="3749040"/>
            <a:ext cx="4434840" cy="0"/>
          </a:xfrm>
          <a:prstGeom prst="line">
            <a:avLst/>
          </a:prstGeom>
          <a:noFill/>
          <a:ln w="9525">
            <a:solidFill>
              <a:srgbClr val="E3E5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492240" y="3749040"/>
            <a:ext cx="4434840" cy="0"/>
          </a:xfrm>
          <a:prstGeom prst="line">
            <a:avLst/>
          </a:prstGeom>
          <a:noFill/>
          <a:ln w="9525">
            <a:solidFill>
              <a:srgbClr val="3A458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60120" y="3867912"/>
            <a:ext cx="310896" cy="310896"/>
          </a:xfrm>
          <a:prstGeom prst="ellipse">
            <a:avLst/>
          </a:prstGeom>
          <a:solidFill>
            <a:srgbClr val="F4E3E0"/>
          </a:solidFill>
          <a:ln/>
        </p:spPr>
      </p:sp>
      <p:pic>
        <p:nvPicPr>
          <p:cNvPr id="24" name="Image 2" descr="/home/claude/logistics_pptx/icons/risk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99" y="3930091"/>
            <a:ext cx="186538" cy="1865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71600" y="38496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60120" y="423367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1400" dirty="0"/>
              <a:t>장애 시 하나의 문제가 전사로 확산</a:t>
            </a:r>
            <a:br>
              <a:rPr lang="ko-KR" altLang="en-US" sz="1400" dirty="0"/>
            </a:br>
            <a:r>
              <a:rPr lang="ko-KR" altLang="en-US" sz="1400" dirty="0"/>
              <a:t>보수 시 시스템이 뒤엉켜 있어 복구 지연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492240" y="3867912"/>
            <a:ext cx="310896" cy="310896"/>
          </a:xfrm>
          <a:prstGeom prst="ellipse">
            <a:avLst/>
          </a:prstGeom>
          <a:solidFill>
            <a:srgbClr val="2E3B8C"/>
          </a:solidFill>
          <a:ln/>
        </p:spPr>
      </p:sp>
      <p:pic>
        <p:nvPicPr>
          <p:cNvPr id="28" name="Image 3" descr="/home/claude/logistics_pptx/icons/risk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19" y="3930091"/>
            <a:ext cx="186538" cy="1865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03720" y="38496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492240" y="423367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 에러가 WMS선에서 격리되어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ERP(회계) 안전성 보장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960120" y="4919472"/>
            <a:ext cx="4434840" cy="0"/>
          </a:xfrm>
          <a:prstGeom prst="line">
            <a:avLst/>
          </a:prstGeom>
          <a:noFill/>
          <a:ln w="9525">
            <a:solidFill>
              <a:srgbClr val="E3E5E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492240" y="4919472"/>
            <a:ext cx="4434840" cy="0"/>
          </a:xfrm>
          <a:prstGeom prst="line">
            <a:avLst/>
          </a:prstGeom>
          <a:noFill/>
          <a:ln w="9525">
            <a:solidFill>
              <a:srgbClr val="3A458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0120" y="5038344"/>
            <a:ext cx="310896" cy="310896"/>
          </a:xfrm>
          <a:prstGeom prst="ellipse">
            <a:avLst/>
          </a:prstGeom>
          <a:solidFill>
            <a:srgbClr val="F4E3E0"/>
          </a:solidFill>
          <a:ln/>
        </p:spPr>
      </p:sp>
      <p:pic>
        <p:nvPicPr>
          <p:cNvPr id="34" name="Image 4" descr="/home/claude/logistics_pptx/icons/data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299" y="5100523"/>
            <a:ext cx="186538" cy="18653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71600" y="50200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기준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60120" y="54041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1400" dirty="0"/>
              <a:t>초기 정리 후에도 기존 </a:t>
            </a:r>
            <a:r>
              <a:rPr lang="en-US" altLang="ko-KR" sz="1400" dirty="0"/>
              <a:t>ERP </a:t>
            </a:r>
            <a:r>
              <a:rPr lang="ko-KR" altLang="en-US" sz="1400" dirty="0"/>
              <a:t>데이터 구조에 계속 종속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492240" y="5038344"/>
            <a:ext cx="310896" cy="310896"/>
          </a:xfrm>
          <a:prstGeom prst="ellipse">
            <a:avLst/>
          </a:prstGeom>
          <a:solidFill>
            <a:srgbClr val="2E3B8C"/>
          </a:solidFill>
          <a:ln/>
        </p:spPr>
      </p:sp>
      <p:pic>
        <p:nvPicPr>
          <p:cNvPr id="38" name="Image 5" descr="/home/claude/logistics_pptx/icons/data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4419" y="5100523"/>
            <a:ext cx="186538" cy="18653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903720" y="50200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기준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492240" y="540410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WMS를 새로운 단일 진실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공급원(SSOT)으로 정립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아키텍처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34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 중심 통합 물류 실행 구조도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589520" cy="3024378"/>
          </a:xfrm>
          <a:prstGeom prst="roundRect">
            <a:avLst>
              <a:gd name="adj" fmla="val 3704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48361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WMS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971800" y="15407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실행의 중심 · 데이터 표준화 SSOT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51560" y="1885950"/>
            <a:ext cx="6766560" cy="0"/>
          </a:xfrm>
          <a:prstGeom prst="line">
            <a:avLst/>
          </a:prstGeom>
          <a:noFill/>
          <a:ln w="12700">
            <a:solidFill>
              <a:srgbClr val="3A45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90800" y="2990088"/>
            <a:ext cx="0" cy="1901952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  <a:headEnd type="triangle" w="lg" len="lg"/>
          </a:ln>
        </p:spPr>
      </p:sp>
      <p:sp>
        <p:nvSpPr>
          <p:cNvPr id="9" name="Text 7"/>
          <p:cNvSpPr/>
          <p:nvPr/>
        </p:nvSpPr>
        <p:spPr>
          <a:xfrm>
            <a:off x="2167890" y="4645151"/>
            <a:ext cx="39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API</a:t>
            </a:r>
            <a:endParaRPr lang="en-US" sz="850" b="1" dirty="0"/>
          </a:p>
        </p:txBody>
      </p:sp>
      <p:sp>
        <p:nvSpPr>
          <p:cNvPr id="10" name="Shape 8"/>
          <p:cNvSpPr/>
          <p:nvPr/>
        </p:nvSpPr>
        <p:spPr>
          <a:xfrm>
            <a:off x="1051560" y="2048256"/>
            <a:ext cx="1920240" cy="941832"/>
          </a:xfrm>
          <a:prstGeom prst="roundRect">
            <a:avLst>
              <a:gd name="adj" fmla="val 10909"/>
            </a:avLst>
          </a:prstGeom>
          <a:solidFill>
            <a:srgbClr val="E8833A"/>
          </a:solidFill>
          <a:ln/>
        </p:spPr>
      </p:sp>
      <p:sp>
        <p:nvSpPr>
          <p:cNvPr id="11" name="Text 9"/>
          <p:cNvSpPr/>
          <p:nvPr/>
        </p:nvSpPr>
        <p:spPr>
          <a:xfrm>
            <a:off x="1216152" y="2302384"/>
            <a:ext cx="1591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조회·관리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3415284"/>
            <a:ext cx="1444752" cy="684276"/>
          </a:xfrm>
          <a:prstGeom prst="roundRect">
            <a:avLst>
              <a:gd name="adj" fmla="val 10000"/>
            </a:avLst>
          </a:prstGeom>
          <a:solidFill>
            <a:srgbClr val="2E3B8C"/>
          </a:solidFill>
          <a:ln w="12700">
            <a:solidFill>
              <a:srgbClr val="5A6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493008"/>
            <a:ext cx="1249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적치재고 데이터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63040" y="2990088"/>
            <a:ext cx="0" cy="406908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  <a:headEnd type="triangle" w="lg" len="lg"/>
          </a:ln>
        </p:spPr>
      </p:sp>
      <p:sp>
        <p:nvSpPr>
          <p:cNvPr id="21" name="Shape 19"/>
          <p:cNvSpPr/>
          <p:nvPr/>
        </p:nvSpPr>
        <p:spPr>
          <a:xfrm>
            <a:off x="9144000" y="1645920"/>
            <a:ext cx="2407615" cy="1188720"/>
          </a:xfrm>
          <a:prstGeom prst="roundRect">
            <a:avLst>
              <a:gd name="adj" fmla="val 7692"/>
            </a:avLst>
          </a:prstGeom>
          <a:solidFill>
            <a:srgbClr val="FDF1E6"/>
          </a:solidFill>
          <a:ln w="50800">
            <a:solidFill>
              <a:srgbClr val="E883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1810512"/>
            <a:ext cx="1950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72600" y="2130552"/>
            <a:ext cx="1950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en-US" sz="1050" dirty="0" err="1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이카운트</a:t>
            </a:r>
            <a:r>
              <a:rPr lang="en-US" sz="1050" dirty="0" smtClean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</a:t>
            </a:r>
            <a:r>
              <a:rPr lang="en-US" sz="1050" b="1" dirty="0" smtClean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r>
              <a:rPr lang="ko-KR" altLang="en-US" sz="1050" b="1" dirty="0" smtClean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추후 </a:t>
            </a:r>
            <a:r>
              <a:rPr lang="ko-KR" altLang="en-US" sz="1050" b="1" dirty="0" err="1" smtClean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교체가능</a:t>
            </a:r>
            <a:endParaRPr lang="en-US" sz="1050" b="1" dirty="0"/>
          </a:p>
        </p:txBody>
      </p:sp>
      <p:sp>
        <p:nvSpPr>
          <p:cNvPr id="24" name="Text 22"/>
          <p:cNvSpPr/>
          <p:nvPr/>
        </p:nvSpPr>
        <p:spPr>
          <a:xfrm>
            <a:off x="9372600" y="2432304"/>
            <a:ext cx="1950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순수 회계 및 결산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0" y="2240280"/>
            <a:ext cx="914400" cy="0"/>
          </a:xfrm>
          <a:prstGeom prst="line">
            <a:avLst/>
          </a:prstGeom>
          <a:noFill/>
          <a:ln w="22225">
            <a:solidFill>
              <a:srgbClr val="E8833A"/>
            </a:solidFill>
            <a:prstDash val="solid"/>
            <a:tailEnd type="triangle" w="lg" len="lg"/>
          </a:ln>
        </p:spPr>
      </p:sp>
      <p:sp>
        <p:nvSpPr>
          <p:cNvPr id="26" name="Text 24"/>
          <p:cNvSpPr/>
          <p:nvPr/>
        </p:nvSpPr>
        <p:spPr>
          <a:xfrm>
            <a:off x="8229600" y="176479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i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전송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37960" y="4350258"/>
            <a:ext cx="0" cy="541782"/>
          </a:xfrm>
          <a:prstGeom prst="line">
            <a:avLst/>
          </a:prstGeom>
          <a:noFill/>
          <a:ln w="19050">
            <a:solidFill>
              <a:srgbClr val="E8833A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29" name="Shape 27"/>
          <p:cNvSpPr/>
          <p:nvPr/>
        </p:nvSpPr>
        <p:spPr>
          <a:xfrm>
            <a:off x="647700" y="4892040"/>
            <a:ext cx="33832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50800">
            <a:solidFill>
              <a:srgbClr val="9AA6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93776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 자동화기기 (WCS)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49808" y="5298948"/>
            <a:ext cx="3163824" cy="6903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입출고 실행 및 데이터 발신</a:t>
            </a:r>
            <a:endParaRPr lang="en-US" altLang="ko-KR" sz="1000" dirty="0" smtClean="0">
              <a:solidFill>
                <a:srgbClr val="6B7280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 algn="ctr">
              <a:buNone/>
            </a:pPr>
            <a:r>
              <a:rPr 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(</a:t>
            </a:r>
            <a:r>
              <a:rPr lang="ko-KR" altLang="en-US" sz="1000" dirty="0" err="1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파렛트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상품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수량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,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로케이션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정보 등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4892040"/>
            <a:ext cx="338328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50800">
            <a:solidFill>
              <a:srgbClr val="9AA6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4937760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 쇼핑몰 / 주문 수집 (플레이오토)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982642" y="5321807"/>
            <a:ext cx="3042056" cy="66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Tx/>
              <a:buChar char="-"/>
            </a:pPr>
            <a:r>
              <a:rPr lang="en-US" sz="1000" dirty="0" err="1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채널별</a:t>
            </a:r>
            <a:r>
              <a:rPr 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</a:t>
            </a: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WMS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지시 전송 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WMS </a:t>
            </a:r>
            <a:r>
              <a:rPr lang="ko-KR" altLang="en-US" sz="1000" dirty="0" err="1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출고처리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</a:t>
            </a:r>
            <a:r>
              <a:rPr lang="ko-KR" altLang="en-US" sz="1000" dirty="0" err="1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출고확정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데이터 수신 </a:t>
            </a:r>
            <a:r>
              <a:rPr lang="ko-KR" altLang="en-US" sz="1000" dirty="0" err="1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재고반영</a:t>
            </a:r>
            <a:endParaRPr lang="en-US" altLang="ko-KR" sz="1000" dirty="0" smtClean="0">
              <a:solidFill>
                <a:srgbClr val="6B7280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WMS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입고 데이터 수신</a:t>
            </a:r>
            <a:endParaRPr lang="en-US" altLang="ko-KR" sz="1000" dirty="0" smtClean="0">
              <a:solidFill>
                <a:srgbClr val="6B7280"/>
              </a:solidFill>
              <a:latin typeface="맑은 고딕" pitchFamily="34" charset="0"/>
              <a:ea typeface="맑은 고딕" pitchFamily="34" charset="-122"/>
            </a:endParaRPr>
          </a:p>
          <a:p>
            <a:pPr marL="171450" indent="-171450">
              <a:buFontTx/>
              <a:buChar char="-"/>
            </a:pPr>
            <a:r>
              <a:rPr 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WMS 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반품</a:t>
            </a:r>
            <a:r>
              <a:rPr lang="en-US" altLang="ko-KR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/</a:t>
            </a:r>
            <a:r>
              <a:rPr lang="ko-KR" alt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교환 입출고 데이터 수신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44000" y="3154680"/>
            <a:ext cx="208757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9281160" y="3337560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OMS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326880" y="3721608"/>
            <a:ext cx="1721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 데이터 기준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처리 현황 연동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81160" y="4169664"/>
            <a:ext cx="1813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구축 예정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144000" y="4754880"/>
            <a:ext cx="2087575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9281160" y="4937760"/>
            <a:ext cx="1813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구매관리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326880" y="5321808"/>
            <a:ext cx="1721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 기반 발주 트리거 · 승인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입고예정 연동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5769864"/>
            <a:ext cx="18132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구축 예정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229600" y="3817620"/>
            <a:ext cx="914400" cy="0"/>
          </a:xfrm>
          <a:prstGeom prst="line">
            <a:avLst/>
          </a:prstGeom>
          <a:noFill/>
          <a:ln w="13970">
            <a:solidFill>
              <a:srgbClr val="9AA6C9"/>
            </a:solidFill>
            <a:prstDash val="dash"/>
            <a:headEnd type="triangle" w="lg" len="lg"/>
            <a:tailEnd type="triangle" w="lg" len="lg"/>
          </a:ln>
        </p:spPr>
      </p:sp>
      <p:sp>
        <p:nvSpPr>
          <p:cNvPr id="44" name="Shape 42"/>
          <p:cNvSpPr/>
          <p:nvPr/>
        </p:nvSpPr>
        <p:spPr>
          <a:xfrm>
            <a:off x="8146466" y="4359402"/>
            <a:ext cx="997534" cy="1058417"/>
          </a:xfrm>
          <a:prstGeom prst="line">
            <a:avLst/>
          </a:prstGeom>
          <a:noFill/>
          <a:ln w="13970">
            <a:solidFill>
              <a:srgbClr val="9AA6C9"/>
            </a:solidFill>
            <a:prstDash val="dash"/>
            <a:headEnd type="triangle" w="lg" len="lg"/>
            <a:tailEnd type="triangle" w="lg" len="lg"/>
          </a:ln>
        </p:spPr>
      </p:sp>
      <p:sp>
        <p:nvSpPr>
          <p:cNvPr id="45" name="Shape 43"/>
          <p:cNvSpPr/>
          <p:nvPr/>
        </p:nvSpPr>
        <p:spPr>
          <a:xfrm>
            <a:off x="11444935" y="2863596"/>
            <a:ext cx="0" cy="2583180"/>
          </a:xfrm>
          <a:prstGeom prst="line">
            <a:avLst/>
          </a:prstGeom>
          <a:noFill/>
          <a:ln w="15875">
            <a:solidFill>
              <a:srgbClr val="E8833A"/>
            </a:solidFill>
            <a:prstDash val="dash"/>
            <a:headEnd type="triangle" w="lg" len="lg"/>
          </a:ln>
        </p:spPr>
      </p:sp>
      <p:sp>
        <p:nvSpPr>
          <p:cNvPr id="46" name="Text 44"/>
          <p:cNvSpPr/>
          <p:nvPr/>
        </p:nvSpPr>
        <p:spPr>
          <a:xfrm>
            <a:off x="9281160" y="2560320"/>
            <a:ext cx="2133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 전표 전송 (구매관리)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 flipH="1">
            <a:off x="11231573" y="5442204"/>
            <a:ext cx="160021" cy="0"/>
          </a:xfrm>
          <a:prstGeom prst="line">
            <a:avLst/>
          </a:prstGeom>
          <a:noFill/>
          <a:ln w="15875">
            <a:solidFill>
              <a:srgbClr val="E8833A"/>
            </a:solidFill>
            <a:prstDash val="dash"/>
            <a:headEnd type="none" w="lg" len="lg"/>
          </a:ln>
        </p:spPr>
      </p:sp>
      <p:sp>
        <p:nvSpPr>
          <p:cNvPr id="49" name="Text 7"/>
          <p:cNvSpPr/>
          <p:nvPr/>
        </p:nvSpPr>
        <p:spPr>
          <a:xfrm>
            <a:off x="6107430" y="4645151"/>
            <a:ext cx="39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API</a:t>
            </a:r>
            <a:endParaRPr lang="en-US" sz="850" b="1" dirty="0"/>
          </a:p>
        </p:txBody>
      </p:sp>
      <p:sp>
        <p:nvSpPr>
          <p:cNvPr id="50" name="Text 7"/>
          <p:cNvSpPr/>
          <p:nvPr/>
        </p:nvSpPr>
        <p:spPr>
          <a:xfrm>
            <a:off x="8442656" y="4477511"/>
            <a:ext cx="39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API</a:t>
            </a:r>
            <a:endParaRPr lang="en-US" sz="850" b="1" dirty="0"/>
          </a:p>
        </p:txBody>
      </p:sp>
      <p:sp>
        <p:nvSpPr>
          <p:cNvPr id="51" name="Text 7"/>
          <p:cNvSpPr/>
          <p:nvPr/>
        </p:nvSpPr>
        <p:spPr>
          <a:xfrm>
            <a:off x="8481060" y="3564633"/>
            <a:ext cx="39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API</a:t>
            </a:r>
            <a:endParaRPr lang="en-US" sz="850" b="1" dirty="0"/>
          </a:p>
        </p:txBody>
      </p:sp>
      <p:sp>
        <p:nvSpPr>
          <p:cNvPr id="52" name="Text 7"/>
          <p:cNvSpPr/>
          <p:nvPr/>
        </p:nvSpPr>
        <p:spPr>
          <a:xfrm>
            <a:off x="8481060" y="2244851"/>
            <a:ext cx="39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i="1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</a:rPr>
              <a:t>API</a:t>
            </a:r>
            <a:endParaRPr lang="en-US" sz="850" b="1" dirty="0"/>
          </a:p>
        </p:txBody>
      </p:sp>
      <p:sp>
        <p:nvSpPr>
          <p:cNvPr id="53" name="Oval 52"/>
          <p:cNvSpPr/>
          <p:nvPr/>
        </p:nvSpPr>
        <p:spPr>
          <a:xfrm>
            <a:off x="3410712" y="206654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547872" y="202082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1. 가용재고 확인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실시간 출고 가능수량 산출</a:t>
            </a:r>
          </a:p>
        </p:txBody>
      </p:sp>
      <p:sp>
        <p:nvSpPr>
          <p:cNvPr id="55" name="Oval 54"/>
          <p:cNvSpPr/>
          <p:nvPr/>
        </p:nvSpPr>
        <p:spPr>
          <a:xfrm>
            <a:off x="3410712" y="261518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47872" y="256946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2. 재고 등급 관리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안전·적정·불용재고 임계치 알림</a:t>
            </a:r>
          </a:p>
        </p:txBody>
      </p:sp>
      <p:sp>
        <p:nvSpPr>
          <p:cNvPr id="57" name="Oval 56"/>
          <p:cNvSpPr/>
          <p:nvPr/>
        </p:nvSpPr>
        <p:spPr>
          <a:xfrm>
            <a:off x="3410712" y="316382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547872" y="311810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3. 입고예정 관리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입고 계획 및 실입고 대사</a:t>
            </a:r>
          </a:p>
        </p:txBody>
      </p:sp>
      <p:sp>
        <p:nvSpPr>
          <p:cNvPr id="59" name="Oval 58"/>
          <p:cNvSpPr/>
          <p:nvPr/>
        </p:nvSpPr>
        <p:spPr>
          <a:xfrm>
            <a:off x="3410712" y="371246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47872" y="366674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4. 출고 관리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피킹·패킹, 송장 발행</a:t>
            </a:r>
          </a:p>
        </p:txBody>
      </p:sp>
      <p:sp>
        <p:nvSpPr>
          <p:cNvPr id="61" name="Oval 60"/>
          <p:cNvSpPr/>
          <p:nvPr/>
        </p:nvSpPr>
        <p:spPr>
          <a:xfrm>
            <a:off x="5751576" y="206654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88736" y="202082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5. 로케이션 관리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구역별 재고 위치 및 공간 배치</a:t>
            </a:r>
          </a:p>
        </p:txBody>
      </p:sp>
      <p:sp>
        <p:nvSpPr>
          <p:cNvPr id="63" name="Oval 62"/>
          <p:cNvSpPr/>
          <p:nvPr/>
        </p:nvSpPr>
        <p:spPr>
          <a:xfrm>
            <a:off x="5751576" y="261518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888736" y="256946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6. 재고 실사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실물-시스템 재고 불일치 확인</a:t>
            </a:r>
          </a:p>
        </p:txBody>
      </p:sp>
      <p:sp>
        <p:nvSpPr>
          <p:cNvPr id="65" name="Oval 64"/>
          <p:cNvSpPr/>
          <p:nvPr/>
        </p:nvSpPr>
        <p:spPr>
          <a:xfrm>
            <a:off x="5751576" y="316382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888736" y="311810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7. PDA 연동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현장 단말기 스캔 처리</a:t>
            </a:r>
          </a:p>
        </p:txBody>
      </p:sp>
      <p:sp>
        <p:nvSpPr>
          <p:cNvPr id="67" name="Oval 66"/>
          <p:cNvSpPr/>
          <p:nvPr/>
        </p:nvSpPr>
        <p:spPr>
          <a:xfrm>
            <a:off x="5751576" y="3712464"/>
            <a:ext cx="64008" cy="64008"/>
          </a:xfrm>
          <a:prstGeom prst="ellipse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888736" y="3666744"/>
            <a:ext cx="1929384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맑은 고딕"/>
              </a:rPr>
              <a:t>8. 바코드/라벨 출력</a:t>
            </a:r>
          </a:p>
          <a:p>
            <a:r>
              <a:rPr sz="800" i="1">
                <a:solidFill>
                  <a:srgbClr val="CADCFC"/>
                </a:solidFill>
                <a:latin typeface="맑은 고딕"/>
              </a:rPr>
              <a:t>상품 라벨·송장 프린터 출력</a:t>
            </a:r>
          </a:p>
        </p:txBody>
      </p:sp>
    </p:spTree>
    <p:extLst>
      <p:ext uri="{BB962C8B-B14F-4D97-AF65-F5344CB8AC3E}">
        <p14:creationId xmlns:p14="http://schemas.microsoft.com/office/powerpoint/2010/main" val="3891800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확장 구상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대시보드: 통합 프론트엔드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백엔드는 분리하고, 화면은 하나로 — 이상 징후를 메인 화면에서 바로 확인합니다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78181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8DCEA"/>
            </a:solidFill>
            <a:prstDash val="solid"/>
          </a:ln>
          <a:effectLst>
            <a:outerShdw blurRad="177800" dist="508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36192"/>
            <a:ext cx="7818120" cy="292608"/>
          </a:xfrm>
          <a:prstGeom prst="roundRect">
            <a:avLst>
              <a:gd name="adj" fmla="val 25000"/>
            </a:avLst>
          </a:prstGeom>
          <a:solidFill>
            <a:srgbClr val="141B4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82496"/>
            <a:ext cx="7818120" cy="146304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" y="1636776"/>
            <a:ext cx="91440" cy="91440"/>
          </a:xfrm>
          <a:prstGeom prst="ellipse">
            <a:avLst/>
          </a:prstGeom>
          <a:solidFill>
            <a:srgbClr val="FF6157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1636776"/>
            <a:ext cx="91440" cy="91440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1636776"/>
            <a:ext cx="91440" cy="91440"/>
          </a:xfrm>
          <a:prstGeom prst="ellipse">
            <a:avLst/>
          </a:prstGeom>
          <a:solidFill>
            <a:srgbClr val="28C93F"/>
          </a:solidFill>
          <a:ln/>
        </p:spPr>
      </p:sp>
      <p:sp>
        <p:nvSpPr>
          <p:cNvPr id="11" name="Shape 9"/>
          <p:cNvSpPr/>
          <p:nvPr/>
        </p:nvSpPr>
        <p:spPr>
          <a:xfrm>
            <a:off x="1463040" y="1600200"/>
            <a:ext cx="2377440" cy="155448"/>
          </a:xfrm>
          <a:prstGeom prst="roundRect">
            <a:avLst>
              <a:gd name="adj" fmla="val 50000"/>
            </a:avLst>
          </a:prstGeom>
          <a:solidFill>
            <a:srgbClr val="2E3B8C"/>
          </a:solidFill>
          <a:ln/>
        </p:spPr>
      </p:sp>
      <p:sp>
        <p:nvSpPr>
          <p:cNvPr id="12" name="Text 10"/>
          <p:cNvSpPr/>
          <p:nvPr/>
        </p:nvSpPr>
        <p:spPr>
          <a:xfrm>
            <a:off x="1463040" y="1600200"/>
            <a:ext cx="2377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dashboard.company.com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1371600" cy="2953512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2029968"/>
            <a:ext cx="45720" cy="329184"/>
          </a:xfrm>
          <a:prstGeom prst="rect">
            <a:avLst/>
          </a:prstGeom>
          <a:solidFill>
            <a:srgbClr val="E8833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2029968"/>
            <a:ext cx="1152144" cy="329184"/>
          </a:xfrm>
          <a:prstGeom prst="roundRect">
            <a:avLst>
              <a:gd name="adj" fmla="val 13889"/>
            </a:avLst>
          </a:prstGeom>
          <a:solidFill>
            <a:srgbClr val="2E3B8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2029968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1248" y="2450592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조회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41248" y="2871216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관리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" y="3291840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 승인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1248" y="371246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67712" y="2011680"/>
            <a:ext cx="4562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안녕하세요, 재고팀 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67712" y="2267712"/>
            <a:ext cx="4562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물류 현황을 한눈에 확인하세요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18120" y="2029968"/>
            <a:ext cx="384048" cy="384048"/>
          </a:xfrm>
          <a:prstGeom prst="ellipse">
            <a:avLst/>
          </a:prstGeom>
          <a:solidFill>
            <a:srgbClr val="2E3B8C"/>
          </a:solidFill>
          <a:ln/>
        </p:spPr>
      </p:sp>
      <p:sp>
        <p:nvSpPr>
          <p:cNvPr id="24" name="Text 22"/>
          <p:cNvSpPr/>
          <p:nvPr/>
        </p:nvSpPr>
        <p:spPr>
          <a:xfrm>
            <a:off x="781812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67712" y="2523744"/>
            <a:ext cx="3323295" cy="1783080"/>
          </a:xfrm>
          <a:prstGeom prst="roundRect">
            <a:avLst>
              <a:gd name="adj" fmla="val 3077"/>
            </a:avLst>
          </a:prstGeom>
          <a:solidFill>
            <a:srgbClr val="FBEAE8"/>
          </a:solidFill>
          <a:ln w="22225">
            <a:solidFill>
              <a:srgbClr val="B03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67712" y="2523744"/>
            <a:ext cx="73152" cy="178308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7" name="Text 25"/>
          <p:cNvSpPr/>
          <p:nvPr/>
        </p:nvSpPr>
        <p:spPr>
          <a:xfrm>
            <a:off x="2487168" y="2633472"/>
            <a:ext cx="2866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주의 필요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505456" y="3172968"/>
            <a:ext cx="82296" cy="8229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29" name="Text 27"/>
          <p:cNvSpPr/>
          <p:nvPr/>
        </p:nvSpPr>
        <p:spPr>
          <a:xfrm>
            <a:off x="2679192" y="3017520"/>
            <a:ext cx="20431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24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승인대기 발주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56567" y="3017520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06959" y="3017520"/>
            <a:ext cx="274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487168" y="3410712"/>
            <a:ext cx="2884383" cy="0"/>
          </a:xfrm>
          <a:prstGeom prst="line">
            <a:avLst/>
          </a:prstGeom>
          <a:noFill/>
          <a:ln w="9525">
            <a:solidFill>
              <a:srgbClr val="EBC1B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05456" y="3566160"/>
            <a:ext cx="82296" cy="8229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34" name="Text 32"/>
          <p:cNvSpPr/>
          <p:nvPr/>
        </p:nvSpPr>
        <p:spPr>
          <a:xfrm>
            <a:off x="2679192" y="3410712"/>
            <a:ext cx="20431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24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안전재고 미달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356567" y="3410712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06959" y="3410712"/>
            <a:ext cx="274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487168" y="3803904"/>
            <a:ext cx="2884383" cy="0"/>
          </a:xfrm>
          <a:prstGeom prst="line">
            <a:avLst/>
          </a:prstGeom>
          <a:noFill/>
          <a:ln w="9525">
            <a:solidFill>
              <a:srgbClr val="EBC1B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05456" y="3959352"/>
            <a:ext cx="82296" cy="82296"/>
          </a:xfrm>
          <a:prstGeom prst="ellipse">
            <a:avLst/>
          </a:prstGeom>
          <a:solidFill>
            <a:srgbClr val="B03A2E"/>
          </a:solidFill>
          <a:ln/>
        </p:spPr>
      </p:sp>
      <p:sp>
        <p:nvSpPr>
          <p:cNvPr id="39" name="Text 37"/>
          <p:cNvSpPr/>
          <p:nvPr/>
        </p:nvSpPr>
        <p:spPr>
          <a:xfrm>
            <a:off x="2679192" y="3803904"/>
            <a:ext cx="204313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A241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WCS 연동 끊김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356567" y="3803904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06959" y="3803904"/>
            <a:ext cx="274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19607" y="2523744"/>
            <a:ext cx="1122700" cy="822960"/>
          </a:xfrm>
          <a:prstGeom prst="roundRect">
            <a:avLst>
              <a:gd name="adj" fmla="val 6667"/>
            </a:avLst>
          </a:prstGeom>
          <a:solidFill>
            <a:srgbClr val="F1F3FA"/>
          </a:solidFill>
          <a:ln w="12700">
            <a:solidFill>
              <a:srgbClr val="E1E4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9335" y="2624328"/>
            <a:ext cx="939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132건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929335" y="3026664"/>
            <a:ext cx="939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출고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079468" y="2523744"/>
            <a:ext cx="1122700" cy="822960"/>
          </a:xfrm>
          <a:prstGeom prst="roundRect">
            <a:avLst>
              <a:gd name="adj" fmla="val 6667"/>
            </a:avLst>
          </a:prstGeom>
          <a:solidFill>
            <a:srgbClr val="F1F3FA"/>
          </a:solidFill>
          <a:ln w="12700">
            <a:solidFill>
              <a:srgbClr val="E1E4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89196" y="2624328"/>
            <a:ext cx="939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4.2회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7189196" y="3026664"/>
            <a:ext cx="939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회전율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819607" y="3483864"/>
            <a:ext cx="1122700" cy="822960"/>
          </a:xfrm>
          <a:prstGeom prst="roundRect">
            <a:avLst>
              <a:gd name="adj" fmla="val 6667"/>
            </a:avLst>
          </a:prstGeom>
          <a:solidFill>
            <a:srgbClr val="F1F3FA"/>
          </a:solidFill>
          <a:ln w="12700">
            <a:solidFill>
              <a:srgbClr val="E1E4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29335" y="3584448"/>
            <a:ext cx="939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929335" y="3986784"/>
            <a:ext cx="939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대기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79468" y="3483864"/>
            <a:ext cx="1122700" cy="822960"/>
          </a:xfrm>
          <a:prstGeom prst="roundRect">
            <a:avLst>
              <a:gd name="adj" fmla="val 6667"/>
            </a:avLst>
          </a:prstGeom>
          <a:solidFill>
            <a:srgbClr val="F1F3FA"/>
          </a:solidFill>
          <a:ln w="12700">
            <a:solidFill>
              <a:srgbClr val="E1E4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89196" y="3584448"/>
            <a:ext cx="939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98%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7189196" y="3986784"/>
            <a:ext cx="939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정시 처리율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8915400" y="2153412"/>
            <a:ext cx="2636215" cy="2011680"/>
          </a:xfrm>
          <a:prstGeom prst="roundRect">
            <a:avLst>
              <a:gd name="adj" fmla="val 4545"/>
            </a:avLst>
          </a:prstGeom>
          <a:solidFill>
            <a:srgbClr val="FDF1E6"/>
          </a:solidFill>
          <a:ln w="31750">
            <a:solidFill>
              <a:srgbClr val="E883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52560" y="2409444"/>
            <a:ext cx="2361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052560" y="2775204"/>
            <a:ext cx="2361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4A1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(이카운트) · 순수 회계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9052560" y="3598164"/>
            <a:ext cx="2361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i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운영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b="1" i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미연동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458200" y="3159252"/>
            <a:ext cx="457200" cy="0"/>
          </a:xfrm>
          <a:prstGeom prst="line">
            <a:avLst/>
          </a:prstGeom>
          <a:noFill/>
          <a:ln w="13970">
            <a:solidFill>
              <a:srgbClr val="B03A2E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8540496" y="3012948"/>
            <a:ext cx="292608" cy="292608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60" name="Text 58"/>
          <p:cNvSpPr/>
          <p:nvPr/>
        </p:nvSpPr>
        <p:spPr>
          <a:xfrm>
            <a:off x="8540496" y="30129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046720" y="259232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50" b="1" i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로그인 필요</a:t>
            </a:r>
            <a:endParaRPr lang="en-US" sz="7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50" b="1" i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(API 조회 불가)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549140" y="4782312"/>
            <a:ext cx="0" cy="201168"/>
          </a:xfrm>
          <a:prstGeom prst="line">
            <a:avLst/>
          </a:prstGeom>
          <a:noFill/>
          <a:ln w="15875">
            <a:solidFill>
              <a:srgbClr val="9AA6C9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1790700" y="4983480"/>
            <a:ext cx="5516880" cy="0"/>
          </a:xfrm>
          <a:prstGeom prst="line">
            <a:avLst/>
          </a:prstGeom>
          <a:noFill/>
          <a:ln w="15875">
            <a:solidFill>
              <a:srgbClr val="9AA6C9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790700" y="4983480"/>
            <a:ext cx="0" cy="274320"/>
          </a:xfrm>
          <a:prstGeom prst="line">
            <a:avLst/>
          </a:prstGeom>
          <a:noFill/>
          <a:ln w="15875">
            <a:solidFill>
              <a:srgbClr val="9AA6C9"/>
            </a:solidFill>
            <a:prstDash val="dash"/>
            <a:tailEnd type="triangle" w="lg" len="lg"/>
          </a:ln>
        </p:spPr>
      </p:sp>
      <p:sp>
        <p:nvSpPr>
          <p:cNvPr id="65" name="Shape 63"/>
          <p:cNvSpPr/>
          <p:nvPr/>
        </p:nvSpPr>
        <p:spPr>
          <a:xfrm>
            <a:off x="4549140" y="4983480"/>
            <a:ext cx="0" cy="274320"/>
          </a:xfrm>
          <a:prstGeom prst="line">
            <a:avLst/>
          </a:prstGeom>
          <a:noFill/>
          <a:ln w="15875">
            <a:solidFill>
              <a:srgbClr val="9AA6C9"/>
            </a:solidFill>
            <a:prstDash val="dash"/>
            <a:tailEnd type="triangle" w="lg" len="lg"/>
          </a:ln>
        </p:spPr>
      </p:sp>
      <p:sp>
        <p:nvSpPr>
          <p:cNvPr id="66" name="Shape 64"/>
          <p:cNvSpPr/>
          <p:nvPr/>
        </p:nvSpPr>
        <p:spPr>
          <a:xfrm>
            <a:off x="7307580" y="4983480"/>
            <a:ext cx="0" cy="274320"/>
          </a:xfrm>
          <a:prstGeom prst="line">
            <a:avLst/>
          </a:prstGeom>
          <a:noFill/>
          <a:ln w="15875">
            <a:solidFill>
              <a:srgbClr val="9AA6C9"/>
            </a:solidFill>
            <a:prstDash val="dash"/>
            <a:tailEnd type="triangle" w="lg" len="lg"/>
          </a:ln>
        </p:spPr>
      </p:sp>
      <p:sp>
        <p:nvSpPr>
          <p:cNvPr id="67" name="Text 65"/>
          <p:cNvSpPr/>
          <p:nvPr/>
        </p:nvSpPr>
        <p:spPr>
          <a:xfrm>
            <a:off x="3360420" y="476402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(Read-only API)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0080" y="5257800"/>
            <a:ext cx="2301240" cy="96012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31750">
            <a:solidFill>
              <a:srgbClr val="1E276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49808" y="5385816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WMS</a:t>
            </a:r>
            <a:endParaRPr lang="en-US" sz="1250" dirty="0"/>
          </a:p>
        </p:txBody>
      </p:sp>
      <p:sp>
        <p:nvSpPr>
          <p:cNvPr id="70" name="Text 68"/>
          <p:cNvSpPr/>
          <p:nvPr/>
        </p:nvSpPr>
        <p:spPr>
          <a:xfrm>
            <a:off x="749808" y="5696712"/>
            <a:ext cx="2081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물류 실행의 중심 · SSOT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3398520" y="5257800"/>
            <a:ext cx="2301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72" name="Text 70"/>
          <p:cNvSpPr/>
          <p:nvPr/>
        </p:nvSpPr>
        <p:spPr>
          <a:xfrm>
            <a:off x="3508248" y="5367528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OMS</a:t>
            </a:r>
            <a:endParaRPr lang="en-US" sz="1250" dirty="0"/>
          </a:p>
        </p:txBody>
      </p:sp>
      <p:sp>
        <p:nvSpPr>
          <p:cNvPr id="73" name="Text 71"/>
          <p:cNvSpPr/>
          <p:nvPr/>
        </p:nvSpPr>
        <p:spPr>
          <a:xfrm>
            <a:off x="3508248" y="5660136"/>
            <a:ext cx="208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유통 채널 주문 처리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508248" y="5998464"/>
            <a:ext cx="2081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구축 예정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56960" y="5257800"/>
            <a:ext cx="2301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76" name="Text 74"/>
          <p:cNvSpPr/>
          <p:nvPr/>
        </p:nvSpPr>
        <p:spPr>
          <a:xfrm>
            <a:off x="6266688" y="5367528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구매관리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266688" y="5660136"/>
            <a:ext cx="2081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발주 승인 · 입고예정 연동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266688" y="5998464"/>
            <a:ext cx="2081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i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구축 예정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59639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성공을 위한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제언 및 기대 효과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957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101600" dist="38100" dir="5400000" algn="bl" rotWithShape="0">
              <a:srgbClr val="9AA0B5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9842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40613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신뢰도 회복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32688" y="2679192"/>
            <a:ext cx="4710532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825496"/>
            <a:ext cx="47105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"시스템에 보이는 재고 = 창고의 실제 재고" 일치화 실현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55868" y="1691640"/>
            <a:ext cx="52957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101600" dist="38100" dir="5400000" algn="bl" rotWithShape="0">
              <a:srgbClr val="9AA0B5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8476" y="198424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548476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15988" y="1965960"/>
            <a:ext cx="40613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안정성 및 위험 격리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48476" y="2679192"/>
            <a:ext cx="4710532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8476" y="2825496"/>
            <a:ext cx="47105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 자동화 설비(WCS)에서 통신 장애나 에러가 발생해도 회계/주문 시스템은 무중단 운영 보장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52957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101600" dist="38100" dir="5400000" algn="bl" rotWithShape="0">
              <a:srgbClr val="9AA0B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44531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4434840"/>
            <a:ext cx="40613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미래지향적 확장성 확보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932688" y="5148072"/>
            <a:ext cx="4710532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294376"/>
            <a:ext cx="47105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향후 OMS·구매관리 등 신규 시스템 추가나 ERP 교체 시에도 물류 현장의 타격을 최소화하는 유연한 구조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55868" y="4160520"/>
            <a:ext cx="5295748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blurRad="101600" dist="38100" dir="5400000" algn="bl" rotWithShape="0">
              <a:srgbClr val="9AA0B5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48476" y="44531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548476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883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7215988" y="4434840"/>
            <a:ext cx="40613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운영 가시성 확보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48476" y="5148072"/>
            <a:ext cx="4710532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8476" y="5294376"/>
            <a:ext cx="47105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시스템에 흩어진 이상 징후(승인대기·재고 미달·연동 장애 등)를 대시보드 하나에서 실시간으로 파악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 smtClean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32001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595</Words>
  <Application>Microsoft Office PowerPoint</Application>
  <PresentationFormat>와이드스크린</PresentationFormat>
  <Paragraphs>150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home</cp:lastModifiedBy>
  <cp:revision>21</cp:revision>
  <dcterms:created xsi:type="dcterms:W3CDTF">2026-08-14T04:38:18Z</dcterms:created>
  <dcterms:modified xsi:type="dcterms:W3CDTF">2026-08-19T00:59:04Z</dcterms:modified>
</cp:coreProperties>
</file>